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3220ce192b4b55" /><Relationship Type="http://schemas.openxmlformats.org/officeDocument/2006/relationships/extended-properties" Target="/docProps/app.xml" Id="R4cc2e9e969434a01" /><Relationship Type="http://schemas.openxmlformats.org/officeDocument/2006/relationships/officeDocument" Target="/ppt/presentation.xml" Id="R675f0e1825fe49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3d874a83a8444cd"/>
  </p:sldMasterIdLst>
  <p:notesMasterIdLst>
    <p:notesMasterId xmlns:r="http://schemas.openxmlformats.org/officeDocument/2006/relationships" r:id="R96e7c3d11b334aa1"/>
  </p:notesMasterIdLst>
  <p:sldIdLst>
    <p:sldId xmlns:r="http://schemas.openxmlformats.org/officeDocument/2006/relationships" id="256" r:id="R59546960a0464cb9"/>
    <p:sldId xmlns:r="http://schemas.openxmlformats.org/officeDocument/2006/relationships" id="257" r:id="R768075e35d684e4e"/>
    <p:sldId xmlns:r="http://schemas.openxmlformats.org/officeDocument/2006/relationships" id="258" r:id="R85fa2cbc5684477d"/>
    <p:sldId xmlns:r="http://schemas.openxmlformats.org/officeDocument/2006/relationships" id="259" r:id="Rfe03c97c0beb4d2d"/>
    <p:sldId xmlns:r="http://schemas.openxmlformats.org/officeDocument/2006/relationships" id="260" r:id="Rb435d130931047a4"/>
    <p:sldId xmlns:r="http://schemas.openxmlformats.org/officeDocument/2006/relationships" id="261" r:id="R0c72285c156a4e10"/>
    <p:sldId xmlns:r="http://schemas.openxmlformats.org/officeDocument/2006/relationships" id="262" r:id="R88fe98a5ffa34c8c"/>
    <p:sldId xmlns:r="http://schemas.openxmlformats.org/officeDocument/2006/relationships" id="263" r:id="Rccd839bd38f8477c"/>
    <p:sldId xmlns:r="http://schemas.openxmlformats.org/officeDocument/2006/relationships" id="264" r:id="Rd93fc593190b436b"/>
    <p:sldId xmlns:r="http://schemas.openxmlformats.org/officeDocument/2006/relationships" id="265" r:id="R9cfb90cba349469e"/>
    <p:sldId xmlns:r="http://schemas.openxmlformats.org/officeDocument/2006/relationships" id="266" r:id="R9a89918ddb3546ae"/>
    <p:sldId xmlns:r="http://schemas.openxmlformats.org/officeDocument/2006/relationships" id="267" r:id="R2fb7462b473d4b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4aa76484224f33" /><Relationship Type="http://schemas.openxmlformats.org/officeDocument/2006/relationships/slideMaster" Target="/ppt/slideMasters/slideMaster1.xml" Id="Re3d874a83a8444cd" /><Relationship Type="http://schemas.openxmlformats.org/officeDocument/2006/relationships/notesMaster" Target="/ppt/notesMasters/notesMaster1.xml" Id="R96e7c3d11b334aa1" /><Relationship Type="http://schemas.openxmlformats.org/officeDocument/2006/relationships/presProps" Target="/ppt/presProps.xml" Id="R162d5cb63d5446c2" /><Relationship Type="http://schemas.openxmlformats.org/officeDocument/2006/relationships/viewProps" Target="/ppt/viewProps.xml" Id="Rd06b75b3c0794a01" /><Relationship Type="http://schemas.openxmlformats.org/officeDocument/2006/relationships/tableStyles" Target="/ppt/tableStyles.xml" Id="Rcb9fc2e400754259" /><Relationship Type="http://schemas.openxmlformats.org/officeDocument/2006/relationships/slide" Target="/ppt/slides/slide1.xml" Id="R59546960a0464cb9" /><Relationship Type="http://schemas.openxmlformats.org/officeDocument/2006/relationships/slide" Target="/ppt/slides/slide2.xml" Id="R768075e35d684e4e" /><Relationship Type="http://schemas.openxmlformats.org/officeDocument/2006/relationships/slide" Target="/ppt/slides/slide3.xml" Id="R85fa2cbc5684477d" /><Relationship Type="http://schemas.openxmlformats.org/officeDocument/2006/relationships/slide" Target="/ppt/slides/slide4.xml" Id="Rfe03c97c0beb4d2d" /><Relationship Type="http://schemas.openxmlformats.org/officeDocument/2006/relationships/slide" Target="/ppt/slides/slide5.xml" Id="Rb435d130931047a4" /><Relationship Type="http://schemas.openxmlformats.org/officeDocument/2006/relationships/slide" Target="/ppt/slides/slide6.xml" Id="R0c72285c156a4e10" /><Relationship Type="http://schemas.openxmlformats.org/officeDocument/2006/relationships/slide" Target="/ppt/slides/slide7.xml" Id="R88fe98a5ffa34c8c" /><Relationship Type="http://schemas.openxmlformats.org/officeDocument/2006/relationships/slide" Target="/ppt/slides/slide8.xml" Id="Rccd839bd38f8477c" /><Relationship Type="http://schemas.openxmlformats.org/officeDocument/2006/relationships/slide" Target="/ppt/slides/slide9.xml" Id="Rd93fc593190b436b" /><Relationship Type="http://schemas.openxmlformats.org/officeDocument/2006/relationships/slide" Target="/ppt/slides/slide10.xml" Id="R9cfb90cba349469e" /><Relationship Type="http://schemas.openxmlformats.org/officeDocument/2006/relationships/slide" Target="/ppt/slides/slide11.xml" Id="R9a89918ddb3546ae" /><Relationship Type="http://schemas.openxmlformats.org/officeDocument/2006/relationships/slide" Target="/ppt/slides/slide12.xml" Id="R2fb7462b473d4b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97b3718a9254a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737c65eb934343" /><Relationship Type="http://schemas.openxmlformats.org/officeDocument/2006/relationships/notesMaster" Target="/ppt/notesMasters/notesMaster1.xml" Id="Rea34c9eed0264bd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0a23d6943e348cc" /><Relationship Type="http://schemas.openxmlformats.org/officeDocument/2006/relationships/notesMaster" Target="/ppt/notesMasters/notesMaster1.xml" Id="R52749e4be4224c1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5bdb244c284f74" /><Relationship Type="http://schemas.openxmlformats.org/officeDocument/2006/relationships/notesMaster" Target="/ppt/notesMasters/notesMaster1.xml" Id="R3ff1d3f770c740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a4e9cda1b34746" /><Relationship Type="http://schemas.openxmlformats.org/officeDocument/2006/relationships/notesMaster" Target="/ppt/notesMasters/notesMaster1.xml" Id="R83c793e3fed545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48ec20353f4c04" /><Relationship Type="http://schemas.openxmlformats.org/officeDocument/2006/relationships/notesMaster" Target="/ppt/notesMasters/notesMaster1.xml" Id="Rc203be11e79d41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d65a47ac3b541e0" /><Relationship Type="http://schemas.openxmlformats.org/officeDocument/2006/relationships/notesMaster" Target="/ppt/notesMasters/notesMaster1.xml" Id="R1a849db2269d437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9f7f845652748f1" /><Relationship Type="http://schemas.openxmlformats.org/officeDocument/2006/relationships/notesMaster" Target="/ppt/notesMasters/notesMaster1.xml" Id="R4ed286e6157e4f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19fb3291e4842e2" /><Relationship Type="http://schemas.openxmlformats.org/officeDocument/2006/relationships/notesMaster" Target="/ppt/notesMasters/notesMaster1.xml" Id="Ra47575f605214c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991e6d444347a0" /><Relationship Type="http://schemas.openxmlformats.org/officeDocument/2006/relationships/notesMaster" Target="/ppt/notesMasters/notesMaster1.xml" Id="R06aa0fa219634c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fc61a7946b240c4" /><Relationship Type="http://schemas.openxmlformats.org/officeDocument/2006/relationships/notesMaster" Target="/ppt/notesMasters/notesMaster1.xml" Id="R62436a1a09d343b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649ca09509542f1" /><Relationship Type="http://schemas.openxmlformats.org/officeDocument/2006/relationships/notesMaster" Target="/ppt/notesMasters/notesMaster1.xml" Id="Rc38999ca47f4475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df5440fd7614e4d" /><Relationship Type="http://schemas.openxmlformats.org/officeDocument/2006/relationships/notesMaster" Target="/ppt/notesMasters/notesMaster1.xml" Id="Ra21ddebe58cd47d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e7ac3a3c89447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99eb0c3ca5f4f94" /><Relationship Type="http://schemas.openxmlformats.org/officeDocument/2006/relationships/slideLayout" Target="/ppt/slideLayouts/slideLayout1.xml" Id="R7fcc96e2838241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cc96e2838241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73e56653a84cc1" /><Relationship Type="http://schemas.openxmlformats.org/officeDocument/2006/relationships/notesSlide" Target="/ppt/notesSlides/notesSlide1.xml" Id="Rbc9651657007460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0fe3f1fea4fdc" /><Relationship Type="http://schemas.openxmlformats.org/officeDocument/2006/relationships/notesSlide" Target="/ppt/notesSlides/notesSlide2.xml" Id="R7aebae929e3f42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3c86bf75a34f69" /><Relationship Type="http://schemas.openxmlformats.org/officeDocument/2006/relationships/notesSlide" Target="/ppt/notesSlides/notesSlide3.xml" Id="R0430ca49df9847c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3f928a0f354f44" /><Relationship Type="http://schemas.openxmlformats.org/officeDocument/2006/relationships/notesSlide" Target="/ppt/notesSlides/notesSlide4.xml" Id="Rca50152b3657497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528dd6a6bb4df5" /><Relationship Type="http://schemas.openxmlformats.org/officeDocument/2006/relationships/notesSlide" Target="/ppt/notesSlides/notesSlide5.xml" Id="Rce5ec4209bf84e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44ffd69684cd9" /><Relationship Type="http://schemas.openxmlformats.org/officeDocument/2006/relationships/notesSlide" Target="/ppt/notesSlides/notesSlide6.xml" Id="R0459ccfc8d1f470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8032d4c1cd45ce" /><Relationship Type="http://schemas.openxmlformats.org/officeDocument/2006/relationships/notesSlide" Target="/ppt/notesSlides/notesSlide7.xml" Id="R4f853c7effdf441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356627cc146d6" /><Relationship Type="http://schemas.openxmlformats.org/officeDocument/2006/relationships/notesSlide" Target="/ppt/notesSlides/notesSlide8.xml" Id="Rf6daaea6dfbf4f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3c87a756f44eaf" /><Relationship Type="http://schemas.openxmlformats.org/officeDocument/2006/relationships/notesSlide" Target="/ppt/notesSlides/notesSlide9.xml" Id="R4d2471504ed343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1720bd2e0e4513" /><Relationship Type="http://schemas.openxmlformats.org/officeDocument/2006/relationships/notesSlide" Target="/ppt/notesSlides/notesSlide10.xml" Id="Rc3a443508cec432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4fd046bb3a47e6" /><Relationship Type="http://schemas.openxmlformats.org/officeDocument/2006/relationships/notesSlide" Target="/ppt/notesSlides/notesSlide11.xml" Id="Re157fa169d6044c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6f3b6b028e49a2" /><Relationship Type="http://schemas.openxmlformats.org/officeDocument/2006/relationships/notesSlide" Target="/ppt/notesSlides/notesSlide12.xml" Id="R1093da58a6944b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E900C6-0AA4-4531-A926-B68F89C6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453156-C2B4-4498-AE8A-AD6B0CB7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890D1D-C1BB-4F39-B1FE-AF3F9CC8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1143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CB7B7-AB2F-47FD-8320-90C1EFC0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08B1B0-95D0-412A-8A38-ACB28EA4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7B503-0535-4F4E-A1E2-DC497B189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F00102-7668-4C60-B8CD-69DD5FE3C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C4D802-11D5-4810-B174-F1CFD781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65EE0F-05F0-494F-AF38-2F3EADE5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D1751A-9EB4-415C-BE3A-C3B1B154C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D50B9C-1858-4F4F-A274-D730D86A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6403E-CFB4-4408-9B58-D2AF50C4C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05E8D-43CA-4F0C-AABB-DD08450C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E9B8A6-A90B-4682-BE8D-9174DAAFB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CD650-9EDE-4130-9495-5B5EC1DE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51D9BD-0B44-4D85-9B17-D85748C4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E92D3-62FF-4370-914B-61FE4735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86F730-F564-4312-8FD6-D6D353B6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B0328-8AD9-47F7-A2DF-10D5B54E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B00599-3B0A-41D3-85B0-0765F424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B717D10-EB3F-44F0-8B47-D6E34E2B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3C650F-F3E2-408E-8B3D-78D427249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8871FA-25DC-4875-BB32-6A371D124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F29AF7-17D0-4524-B506-1C92774CC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1B560A-E760-4EBC-B89D-EAE00C879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E75BED-CBDD-45E0-8D75-39BECC82E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4FE5CA-5C60-4764-AD35-FDB96B13C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3C8D61A-BA16-4249-97C5-F1A46C06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ETHGLOBAL NY 2026 // TECHNICAL SPECIFICATION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817FFC-B09F-499D-84B5-503989B9B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66850"/>
            <a:ext cx="4953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1197"/>
          </a:bodyPr>
          <a:lstStyle xmlns:a="http://schemas.openxmlformats.org/drawingml/2006/main"/>
          <a:p xmlns:a="http://schemas.openxmlformats.org/drawingml/2006/main">
            <a:pPr algn="l">
              <a:defRPr sz="5850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defRPr>
            </a:pPr>
            <a:r>
              <a:rPr sz="5850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rPr>
              <a:t>Alchm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B2BB73-CEA2-464F-AEFD-C73AF23FA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723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561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61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HackStation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CFE0F5A-757E-4F93-851C-8156BD89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609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Immersive velocity command center for Ethereum builders.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6679258-83FA-4C82-BA05-3922352D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66800"/>
            <a:ext cx="40005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E10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37B769-04CE-42C0-BA00-C7BDE9671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669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4083C3A-A777-4378-A01F-08996CDF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432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3FC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5CC436-2C55-49B2-892C-F771FF58F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619500"/>
            <a:ext cx="3238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3333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17AE2C-5CDA-4C7D-B607-A55BD0731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287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EC981B-4BC8-4A95-8356-9793E54E9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428750"/>
            <a:ext cx="9525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1B5377-120E-4FDD-A935-B19897EB7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81125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4F6F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4F6F7"/>
                </a:solidFill>
                <a:latin typeface="Aptos Mono"/>
                <a:ea typeface="Aptos Mono"/>
                <a:cs typeface="Aptos Mono"/>
              </a:rPr>
              <a:t>UNITY</a:t>
            </a:r>
          </a:p>
          <a:p xmlns:a="http://schemas.openxmlformats.org/drawingml/2006/main">
            <a:pPr algn="ctr">
              <a:defRPr sz="1350" b="1">
                <a:solidFill>
                  <a:srgbClr val="F4F6F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4F6F7"/>
                </a:solidFill>
                <a:latin typeface="Aptos Mono"/>
                <a:ea typeface="Aptos Mono"/>
                <a:cs typeface="Aptos Mono"/>
              </a:rPr>
              <a:t>ALTAR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19ECD7-13C4-4351-A9D3-EF376556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57425"/>
            <a:ext cx="1104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TAURI V2</a:t>
            </a:r>
          </a:p>
          <a:p xmlns:a="http://schemas.openxmlformats.org/drawingml/2006/main">
            <a:pPr algn="ctr">
              <a:defRPr sz="135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CORE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A1BA32-246E-4410-A341-39CB6E8A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43250"/>
            <a:ext cx="1143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73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SPACETIMEDB</a:t>
            </a:r>
          </a:p>
          <a:p xmlns:a="http://schemas.openxmlformats.org/drawingml/2006/main">
            <a:pPr algn="ctr">
              <a:defRPr sz="1275" b="1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STATE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A59C824-106E-43AE-B69B-47BB41BA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3812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9412"/>
            </a:srgbClr>
          </a:solidFill>
          <a:ln xmlns:a="http://schemas.openxmlformats.org/drawingml/2006/main" w="9525">
            <a:solidFill>
              <a:srgbClr val="DEFF9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0E0199-21EC-4E7A-BB6D-2A1DBE1F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00550"/>
            <a:ext cx="2762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E8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777E86"/>
                </a:solidFill>
                <a:latin typeface="Aptos Mono"/>
                <a:ea typeface="Aptos Mono"/>
                <a:cs typeface="Aptos Mono"/>
              </a:rPr>
              <a:t>native state machine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88E17C-23B9-46A4-BD32-FB39D736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05375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9525">
            <a:solidFill>
              <a:srgbClr val="DEFF9A">
                <a:alpha val="4000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5C94FF-2C23-43AD-BFBF-B04B2E6E9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720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UNITY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2500489-36B8-4A36-BCC8-CF4F0F6D4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05375"/>
            <a:ext cx="12001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9525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6625BE2-A6D3-4692-B220-7E69D73F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972050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TAURI V2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F229C1-02E1-4B03-BD2F-ABB8DA1F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05375"/>
            <a:ext cx="14668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9525">
            <a:solidFill>
              <a:srgbClr val="DEFF9A">
                <a:alpha val="4000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1239E3-E760-43BF-9896-88C5D341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72050"/>
            <a:ext cx="14668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SPACETIMEDB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C50E9E0-87FB-4BE1-870D-9BB465009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05375"/>
            <a:ext cx="1638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9525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07148A9-1A83-45C6-A2BE-93EA052C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972050"/>
            <a:ext cx="1638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BUN + FOUNDRY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4012AED-4CF6-402A-BDF2-C941F538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Source: user-provided pasted HTML deck.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4595D32-8726-4F82-802C-43769EED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616958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120E69-D668-488D-9531-D2E0B278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6EF6D-5B92-4290-8105-E43F89FF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55A717-5F81-42ED-9BBC-C90BB7C5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1143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789D9A-EB7C-46D0-A9AC-E5587217C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10C4C-3468-4F85-B1EC-464D0112A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BE953-8CFF-4BF8-922D-DE9D2442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13BBAD-A64B-4D6C-9E34-040524596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4F8EF-748D-4F8B-B7CA-4897BF06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BF24EE-6FA7-43DF-B991-C62B3D9D7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B57AAD-A29F-4045-BCA6-BEE428CB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F32BA1-BE48-4E91-94E2-E09E7D56C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AFE91B-1741-4D86-AAEF-8CC987C7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488F89-82D0-4696-ACF7-234BFF48D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F8D917-64BB-485A-9522-73B8265F8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BD6953-41B8-4AFD-B25C-D69A92DDF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C0588C-7CB1-4FFF-A127-FFC1E903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82806B-14DD-435A-84D4-CB15C83E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87437C-1EFF-4776-9D72-696B6CF2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A287A5-223B-4D49-AABB-C507D923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31CD2-17FE-4C67-81EF-EF2C7D2F6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698AD3-BB9E-4260-AB9C-926FF4BA5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936A7-0346-4A39-B60E-D5ADAEA1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47B544-CE72-4F09-A3E7-BE9836A9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32A4E2-7895-4FC2-9772-C19C05F1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27A2D6-2D71-4735-95AE-57A607B60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0C32D7-08CF-44C1-A786-19F8D07D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4E3A042-A16E-40BC-B716-60E2D1A1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68BFE2D-DA94-4FCB-89DC-732B33641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6BCBC9A-D173-4748-A36C-EE6CADBD8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CORE ARCHITECTURE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981837-7BCA-4E7C-BBF1-1FC1FAB51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7239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The product is a native-performance loop, not another web dashboard.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D8FB5A5-8580-4A55-9D90-2DE8B68C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7239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A single state machine binds code edits, local builds, deployments, chain traces, and shared team state.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F013A8-901F-4968-81D8-48ECCD7A9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81250"/>
            <a:ext cx="3238500" cy="3238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>
              <a:alpha val="1176"/>
            </a:srgbClr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F1593D-C27E-4DA5-9273-1A297E1E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181350"/>
            <a:ext cx="1638300" cy="1638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7059"/>
            </a:srgbClr>
          </a:solidFill>
          <a:ln xmlns:a="http://schemas.openxmlformats.org/drawingml/2006/main" w="9525">
            <a:solidFill>
              <a:srgbClr val="DEFF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9F60F2-1AA5-44E6-B86E-C5BD967E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24250"/>
            <a:ext cx="13716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native</a:t>
            </a:r>
          </a:p>
          <a:p xmlns:a="http://schemas.openxmlformats.org/drawingml/2006/main">
            <a:pPr algn="ctr">
              <a:defRPr sz="187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state</a:t>
            </a:r>
          </a:p>
          <a:p xmlns:a="http://schemas.openxmlformats.org/drawingml/2006/main">
            <a:pPr algn="ctr">
              <a:defRPr sz="187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machine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50DE90-5B32-4CB9-9B8A-34A027FBB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133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FB411A-2ACE-404D-B2D0-1923B8D9E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34315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910F964-E15C-4D45-AF80-ABF1E2AD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47650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4F6F7"/>
                </a:solidFill>
                <a:latin typeface="Aptos Mono"/>
                <a:ea typeface="Aptos Mono"/>
                <a:cs typeface="Aptos Mono"/>
              </a:rPr>
              <a:t>CODE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94C110-0C61-4A33-B6EE-93FEE789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0035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local dev input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BF1B09A-AAE1-4D36-87AC-12A273A1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90925"/>
            <a:ext cx="133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7BECCD-D6DA-44A0-B087-F07999AE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90925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0B8F82-8A28-4BF5-9F78-66F1D49AF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7242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4F6F7"/>
                </a:solidFill>
                <a:latin typeface="Aptos Mono"/>
                <a:ea typeface="Aptos Mono"/>
                <a:cs typeface="Aptos Mono"/>
              </a:rPr>
              <a:t>BUILD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F16BD47-9DE1-4BAE-A6BB-5D3EC7D5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04812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Bun + Foundry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21B821-705B-41E7-B6A6-80C907D6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133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064D3B-62E8-44B8-AE76-AB60738D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5219700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829FE4E-33F9-4CFE-97B6-3CB7386A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353050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4F6F7"/>
                </a:solidFill>
                <a:latin typeface="Aptos Mono"/>
                <a:ea typeface="Aptos Mono"/>
                <a:cs typeface="Aptos Mono"/>
              </a:rPr>
              <a:t>DEPLOY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43B174A-4DC2-4C41-82F3-99EA083D6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676900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Vercel + chain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B7748DA-AECB-4D72-B759-2D71537CD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90925"/>
            <a:ext cx="1333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2E0D1D-0364-47DF-9133-A37B7181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590925"/>
            <a:ext cx="381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7C5284-E996-47FC-9142-EF37FFD2C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724275"/>
            <a:ext cx="1047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F4F6F7"/>
                </a:solidFill>
                <a:latin typeface="Aptos Mono"/>
                <a:ea typeface="Aptos Mono"/>
                <a:cs typeface="Aptos Mono"/>
              </a:rPr>
              <a:t>TRACE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7DFDDA-72AC-41B7-8FF4-1C0476A2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048125"/>
            <a:ext cx="1047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SpaceTimeDB event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D5037E3-A3C1-4435-8B6A-9A6A24570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162300"/>
            <a:ext cx="0" cy="1143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EFF9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C1E9B4-1095-403A-9BBB-7A1618A5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33800"/>
            <a:ext cx="476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DD3F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293BF38-C435-41E3-823E-0132C4866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19650"/>
            <a:ext cx="0" cy="400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EFF9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CA2EFF6-BF5C-47D0-A3F5-857593EF2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33800"/>
            <a:ext cx="7810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DD3F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C58557D-162B-42D7-B210-CFA1748E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028700"/>
            <a:ext cx="3048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42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The architecture is designed so every workflow event becomes visible state, not terminal residue.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82C776-D2E6-424C-BE6D-2B31A3FE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Source: pasted HTML architecture section.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039E00-2FE1-4882-8421-D5FAEF7B3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2411466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B1AAAF-D42E-4135-B467-C50F1F9A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385C59-794B-4832-8B41-19D58FDC4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4AC449-18F7-4B3A-8C02-7EBD20367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1143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5EF26C-1E45-4408-8961-CC549900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14178-4A3B-40BD-A5BB-C2DDB6EC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981ECC-ABCC-4FE5-AE91-920C7208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B23A1E-C640-434C-B531-3C6E3EF7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F4701E-0B97-4620-832C-1B39D463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915240-7046-4D58-9249-3E6B859CA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959668-2BF9-4818-AD47-FE3F2808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54B53A-A4EA-4841-BE2C-E54C89BC6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F6C296-81F7-463A-8D1A-F29B9F80E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821156-6A8D-47CC-902D-042E436FF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CAC65-EBC6-4494-8913-AFAD20E01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90C5A7-D70E-46C3-BF45-1B48D3A5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31CA6F-19A3-408D-AB78-6DAC16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AF5D7-1146-4E5B-B7F2-5D10163C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2973A9-48D3-4F72-8FF9-E91BBB5F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C7B00B-83A7-4CC6-8DA2-0A52FA74D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858572-BB8D-43AC-A2AA-3FAA1B547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017E83-BD20-45D1-B8F6-261B0185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49B1F6-2A11-4681-B88A-0BE751315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22FC0F-DAB6-4DCD-A9BA-2C40B9B9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1A56F4-2AFB-4E0A-9B46-DDCEF2ED0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9D7D55-FF23-4544-8485-822FCA6BD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DF5AB3-A431-4A5F-A792-F6A45E4A5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9DC805-BB65-4120-9187-008FA32F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DA05F6EE-E1E3-4C84-8E09-0A29F900E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E38BB3A-2602-45F9-BFE5-70043F8BF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UNITY-TAURI NEXUS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6BE033-9066-4292-AD22-82002C4E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Unity owns visualization while Tauri controls the machine boundary.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CEA91C-CBCC-4B81-B8F6-411B44E24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The visual altar stays deterministic while the Rust shell brokers secure local execution and sidecar orchestration.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92C621-0408-4318-9EFE-3442FA13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4629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013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E3E3C53-FF5B-46A2-B760-F3338AEF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381250"/>
            <a:ext cx="46291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013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64DC045-3DDF-4DF7-AE1C-B636122F8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rPr>
              <a:t>UNITY FRONTIER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361783-4CED-4C11-8721-FC6FDD08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686050"/>
            <a:ext cx="2667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54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DD3FC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1">
                <a:solidFill>
                  <a:srgbClr val="7DD3FC"/>
                </a:solidFill>
                <a:latin typeface="Aptos Display"/>
                <a:ea typeface="Aptos Display"/>
                <a:cs typeface="Aptos Display"/>
              </a:rPr>
              <a:t>TAURI V2 CORE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5D81EB-51B7-4D29-B13D-74FB9DCD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1790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02705C4-DCC2-464E-90BF-AFD4F6E09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813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11E4A66-1BDB-48C7-9590-C375F4C0B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3D altar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A87E3C0-2F81-4054-9B40-00E37B25D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385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Volumetric status, logs, and gas heatmaps.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317AE2-EDAE-4C8B-8884-C2B733D7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81350"/>
            <a:ext cx="1790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0BD11A-A8DE-4D01-A893-FAF3EBC20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813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1F2733-B00E-4AEE-BE09-EBDF2ACE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1470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C# render loop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A63021-C94A-41F3-A972-5EDA787C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Deterministic state rendering for operator context.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5423C35-0407-4E55-95A0-2D1B380A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81350"/>
            <a:ext cx="1790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F086CC-E359-43BE-BBDB-CF8E8C52E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1813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4B3B1C-0BC3-4553-93C7-091935AC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1470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Rust IPC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D285CBB-52AE-4CA2-A38D-F6AC89FAB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385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Secure boundary for local filesystem and hardware calls.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6F84B12-4DFA-4792-A379-C327E1E7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81350"/>
            <a:ext cx="17907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2575CD9-4C8E-408E-BCB2-B49DC377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181350"/>
            <a:ext cx="381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D04233C-723B-483C-8BF5-28CF19402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1470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Bun sidecar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8E7ED0-F314-40A7-A1CA-1E175316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638550"/>
            <a:ext cx="1504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Low-latency Foundry and Vercel orchestration.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DE0AE9-AA63-41EB-ADC9-7C9D50D1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971800"/>
            <a:ext cx="1143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6275"/>
            </a:srgbClr>
          </a:solidFill>
          <a:ln xmlns:a="http://schemas.openxmlformats.org/drawingml/2006/main" w="9525">
            <a:solidFill>
              <a:srgbClr val="DEFF9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3DD01DF-B3BA-40C5-B939-21395839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314700"/>
            <a:ext cx="8382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SECURE</a:t>
            </a:r>
          </a:p>
          <a:p xmlns:a="http://schemas.openxmlformats.org/drawingml/2006/main">
            <a:pPr algn="ctr">
              <a:defRPr sz="135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IPC</a:t>
            </a:r>
          </a:p>
          <a:p xmlns:a="http://schemas.openxmlformats.org/drawingml/2006/main">
            <a:pPr algn="ctr">
              <a:defRPr sz="135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BRIDGE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5610078-844E-4E40-809B-036E8FAF3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695700"/>
            <a:ext cx="628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EFF9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1C415B9-6F85-46D5-8698-2915A5472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95700"/>
            <a:ext cx="4762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DD3F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9DB2969-B5BE-4EBB-8955-7B9F4CDF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686300"/>
            <a:ext cx="9029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Separation of concerns: cinematic state rendering on one side, privileged machine operations on the other.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1E72469-DC1D-4469-8A86-4A4F67D4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Source: pasted HTML slide 'The Unity-Tauri Nexus'.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40E9006-45E5-465D-AA23-4876153DC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532430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3A4A08-8615-49CF-A36A-0CE586BA7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EF032E-3699-48D4-8083-D35BDBDB8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6E0C26-23F2-45EA-80B0-C1BA4B35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1143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861B67-BD72-48A3-980D-C1F015B4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8B292-83F5-44A7-BEF1-B854A59F8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6B7C68-9C30-4273-8F1F-E1172BFC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31D44-3FAD-46C5-AEAC-5B17A4EF9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0ED48B-AC78-4661-9314-95738909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9DD2E6-C2CB-486F-B3A6-D42C43E8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8885B3-0D1B-428E-B500-34CED2E4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82F32B-3251-41D8-94F0-74F25D21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98A66-0593-4C46-91C1-C5A44CC7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081A79-BE32-46F3-852C-45CCD71F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73003-DB64-4154-A7B1-D49D06D61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43AB9B-6A09-4DE7-8AEE-5F2988D7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1D87B2-37AE-4308-974A-E2C940843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51970-BEF8-4D43-A039-384756240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5B9456-96E8-497A-AAD2-2D2519B3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08079-75EC-4B07-9E93-2540E1C8A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5D1686-23F7-45CC-9C37-97A77499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2C6728-59BA-4E97-8F2A-1D137B9B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066C9-8A49-4971-8194-72B9DF13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B10EC9-28CD-468E-A21B-9EEC5552B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95A4E6-8334-4439-8653-57A575C7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A593A8-310E-410C-A0B2-7C910CB33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8F95E5E-D2F0-4E14-8034-AF2D9B09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CEFBA9A-BCCE-434D-9CE5-F245C8F6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DF7E587-C46C-450D-B8CD-2A7ABE78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EEE6045-41C4-4C44-B0F9-F5419D0A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ALTAR UI VISUALIZATION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52834FB-EFDB-4AFE-BF17-93F7D687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781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The altar converts chain events into visible operational signals.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97E3A3-90E9-47B0-9114-8E8507B5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7810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On-chain and local build events become an inspectable cockpit instead of scattered terminal scrollback.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7370DF-7AFC-4924-BA8E-22B8AB6B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6477000" cy="3257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F45456-C6BC-45B5-9A85-F3B52B9F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57450"/>
            <a:ext cx="6096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181C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D08E1D2-02DD-4509-B6E6-8D55CA579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90800"/>
            <a:ext cx="2952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ALCHEMICAL ALTAR // LIVE STATE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2DFC1E6-DBD6-46E2-A20C-681A29EC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24125"/>
            <a:ext cx="609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9525">
            <a:solidFill>
              <a:srgbClr val="DEFF9A">
                <a:alpha val="40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DD19EB-DFC7-4063-8522-122C0A03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590800"/>
            <a:ext cx="609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TX OK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13BEDA-9419-47BD-A40D-8FB9AF892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24125"/>
            <a:ext cx="4953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9525">
            <a:solidFill>
              <a:srgbClr val="7DD3FC">
                <a:alpha val="4000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B77ACB-4857-4BAA-884C-63CBDE837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90800"/>
            <a:ext cx="4953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GAS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AFCD3E-963F-49A4-85FA-5E2DEE46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766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8627"/>
            </a:srgbClr>
          </a:solidFill>
          <a:ln xmlns:a="http://schemas.openxmlformats.org/drawingml/2006/main" w="9525">
            <a:solidFill>
              <a:srgbClr val="DEFF9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C72D0FB-83CC-4556-83F1-8EA5DDF3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752850"/>
            <a:ext cx="10096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13333"/>
            </a:srgbClr>
          </a:solidFill>
          <a:ln xmlns:a="http://schemas.openxmlformats.org/drawingml/2006/main" w="9525">
            <a:solidFill>
              <a:srgbClr val="DEFF9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530617-AC5D-411D-B314-5F7BD4D71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90950"/>
            <a:ext cx="895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4F6F7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F4F6F7"/>
                </a:solidFill>
                <a:latin typeface="Aptos Mono"/>
                <a:ea typeface="Aptos Mono"/>
                <a:cs typeface="Aptos Mono"/>
              </a:rPr>
              <a:t>ALTAR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4B8FF6-7EE7-447C-B6D5-0E6D6324C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76600"/>
            <a:ext cx="0" cy="-381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EFF9A">
                <a:alpha val="53333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9118827-75AC-44BB-9391-7CFF7FEAD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895850"/>
            <a:ext cx="0" cy="4191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EFF9A">
                <a:alpha val="53333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57DA55-2B23-4928-A72F-790271F58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086225"/>
            <a:ext cx="-1104900" cy="466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DD3FC">
                <a:alpha val="53333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577FA8C-8212-4FA7-A5E3-8C74991FB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86225"/>
            <a:ext cx="1352550" cy="466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DD3FC">
                <a:alpha val="53333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83BC97-0E0D-41CE-97C3-9DFA978E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181350"/>
            <a:ext cx="196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5DF22A2-33FF-4EB5-AC74-B017B288C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2575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block_trace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4B56012-B8D8-4E5C-9399-181A60CA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409950"/>
            <a:ext cx="1676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E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7E86"/>
                </a:solidFill>
                <a:latin typeface="Aptos"/>
                <a:ea typeface="Aptos"/>
                <a:cs typeface="Aptos"/>
              </a:rPr>
              <a:t>heatmap density +12%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80E0E3-3C36-4836-8F43-6AF23638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71900"/>
            <a:ext cx="196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E9AACE-2AD9-4845-AAAB-2D3F73CD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4810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forge_deploy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335F3FC-F805-4FAB-BFE2-9A99D4D2A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00500"/>
            <a:ext cx="1676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E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7E86"/>
                </a:solidFill>
                <a:latin typeface="Aptos"/>
                <a:ea typeface="Aptos"/>
                <a:cs typeface="Aptos"/>
              </a:rPr>
              <a:t>contract verified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011B68A-72E6-4E3D-881B-238A81A5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62450"/>
            <a:ext cx="1962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E48B0A-676E-44C7-8D43-3E5D699A7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438650"/>
            <a:ext cx="876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DE68A"/>
                </a:solidFill>
                <a:latin typeface="Aptos Mono"/>
                <a:ea typeface="Aptos Mono"/>
                <a:cs typeface="Aptos Mono"/>
              </a:defRPr>
            </a:pPr>
            <a:r>
              <a:rPr sz="825" b="1">
                <a:solidFill>
                  <a:srgbClr val="FDE68A"/>
                </a:solidFill>
                <a:latin typeface="Aptos Mono"/>
                <a:ea typeface="Aptos Mono"/>
                <a:cs typeface="Aptos Mono"/>
              </a:rPr>
              <a:t>terminal_io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2E2381D-A622-4031-AEE7-927F61A4C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91050"/>
            <a:ext cx="16764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777E86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777E86"/>
                </a:solidFill>
                <a:latin typeface="Aptos"/>
                <a:ea typeface="Aptos"/>
                <a:cs typeface="Aptos"/>
              </a:rPr>
              <a:t>stderr resolved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861AEC-BD43-4061-A671-069E9CE2A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381250"/>
            <a:ext cx="314325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3E6CDD0-3FAC-4A3B-B522-BBFE626F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686050"/>
            <a:ext cx="2095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SIGNAL GRAMMAR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5857E9C-B707-4F84-9AD2-388D72302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8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1C4212-ED2D-4B0E-B263-4FB0B6F91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0861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B13363-3415-48F8-A4E1-06A53B25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813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Obsidian depth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4E12968-AE78-4877-8887-908B07430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467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State logs feel inspectable, not flat.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F8F005A-E33F-4843-A3D7-3D183FB12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8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F677A87-BAC2-49A8-8097-894452AE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481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16D9F8B-9AA4-42AE-8866-B2D9434C5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9433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Acid tx-traces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AB7E97A-9A1F-4EAE-A606-AC798A17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29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Success and failure states pop instantly.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A72E2B9-F372-46C2-AEF5-BCD684E9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10100"/>
            <a:ext cx="247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418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C5CAE6A-9BF8-4D0E-A6ED-42986A0D2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610100"/>
            <a:ext cx="38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09D4365-2588-4024-A646-BDD75E831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053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PBR heatmaps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128928-4199-4618-AE5B-AA24F2696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991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7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Gas density becomes spatial signal.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4A273C0-BA12-47B4-AB46-C848909EF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Remote source images omitted; editable schematic replaces them.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0F318B-E75F-4777-A479-DC91CE13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2275211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18D3FD-FD17-4F78-AD0B-DC92E8349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75ADB-6EC5-4562-8DB8-12CB6DCA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FF83F9-503E-4CB8-ACBD-0840405D9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1143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33693F-DFB5-4D27-A8DD-8C6D7E7AD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E6A8D8-1BC7-4A57-94A1-08959F427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3BBF0-FBD5-40C6-A980-5D9C33B6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6D831F-D52B-418E-B8C0-1E38AC48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DFA2D-A0F5-47C9-9616-84186B081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BD05D6-FE7B-4ACD-936E-AC2E24F0E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D2FBD-0379-41FD-80DA-10128278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D2B2A-24E0-4305-9DB2-E187189E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4E3D12-F776-4FE5-BD7C-51E7EE69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C17242-4CE9-4911-A0FA-A87585309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EF88B6-00BF-48D2-A780-21EBE8FD1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745EA-D5C7-4132-B508-D3AE0D07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3698E-4490-4BAA-ABE9-97737264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E20C2F-0054-4BEE-80E3-F58AC6911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E5064F-7A4E-4CE9-A695-747A464E2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F007A-260B-421B-B0FE-F2142889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B4FDA8-A7CD-4977-A780-76A43B06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452FE9-9448-4F60-AC27-B47734C07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397F65-A8C2-4621-BA1C-7DA9AADEC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B15B9F-1018-4880-885F-632EFCAE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370CC-DEB5-442C-9D19-F3FCF5F06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34F579-15A3-4FBA-8676-DEBA57E9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BEC3CF-4209-482E-85B3-F829A7564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93A3B6-31EB-4F6C-9AB1-B644E314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18A7A7EA-4E1A-4EDC-89C9-383C9A127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D08BAD9-A607-433C-B343-BB715D934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FOUR PILLARS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CF9FCC-E436-4E16-A1DF-2D32F8C55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191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Four subsystems compound into one velocity surface.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573E0D-C869-43E1-8825-46AE454C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8191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Each pillar removes a different developer wait state: sync, build, security, and deployment handoff.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EEC94C-0DFC-4F98-89BB-9C3FE5CB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71800"/>
            <a:ext cx="28956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7059"/>
            </a:srgbClr>
          </a:solidFill>
          <a:ln xmlns:a="http://schemas.openxmlformats.org/drawingml/2006/main" w="9525">
            <a:solidFill>
              <a:srgbClr val="DEFF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867C21-3687-44DE-86A3-7D06A0D8E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81350"/>
            <a:ext cx="2286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784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VELOCITY</a:t>
            </a:r>
          </a:p>
          <a:p xmlns:a="http://schemas.openxmlformats.org/drawingml/2006/main">
            <a:pPr algn="ctr">
              <a:def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SURFACE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2A1BB4-6101-4638-ABF8-C8929C87F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2724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2F7685-D459-4557-9004-66E482192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431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B86973-9DC9-4816-A81E-D25058CCD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765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REAL-TIME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53EEE36-E677-4F2B-BD15-3A6F25891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8003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SpaceTimeDB sync keeps team state live.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C0009CA-51BD-45D8-929F-055A6F52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2724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B2085B2-9B25-480E-8AAE-1BBE2955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4315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95989D1-BBA2-4B13-ADA4-4230CE424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7650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BUILD SPEED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9572D0B-7A32-4525-9185-51C872810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035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Bun sidecar keeps forge loops sub-second.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3EA0AAF-8DDA-42BD-AE57-183B7677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2724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73279B-A5A8-4246-9A9E-DA1F02D65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434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0D417E8-E9F0-4E72-BAE4-C597315E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767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NATIVE SECURITY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F7756E-E2B4-499A-A71F-2BC3298D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0060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Tauri boundary protects local secrets.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BD1A99-9F01-4618-97BA-BB66BFEC3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2724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6C20F7-3BA6-48C9-A98C-03DA9311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343400"/>
            <a:ext cx="381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98A8B4-53ED-403F-AF6F-74DEABC8B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76750"/>
            <a:ext cx="24384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DEPLOY SYNC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A303E84-AE4C-44E6-8EBD-73A5EA4A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00600"/>
            <a:ext cx="24384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Vercel and chain events share one state log.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72BD1CA-714F-465A-9D50-52D63905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876550"/>
            <a:ext cx="876300" cy="381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EFF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B218E32-0F6E-4E05-BD12-3602F9AA7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57550"/>
            <a:ext cx="590550" cy="-3810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DD3F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BE42F2-A9BF-4E4B-A96E-862F8946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76800"/>
            <a:ext cx="876300" cy="-1162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DD3F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0136166-1E37-498C-9481-EFB2D5F6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714750"/>
            <a:ext cx="590550" cy="11620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EFF9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DDC6E07-3C50-49F4-8145-7ECAC073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676900"/>
            <a:ext cx="769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77E8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777E86"/>
                </a:solidFill>
                <a:latin typeface="Aptos Mono"/>
                <a:ea typeface="Aptos Mono"/>
                <a:cs typeface="Aptos Mono"/>
              </a:rPr>
              <a:t>The original source listed three tiles under a four-pillar heading; deploy sync is made explicit here from the schema and roadmap.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0EBD54F-D975-4BF8-B285-0BB5B8097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Source: pasted HTML pillars, schema, and roadmap slides.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9A2131C-C676-468A-B3DA-2AF2AC12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710258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4C7194-8EE9-4B67-8808-542BE6BD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A642B-8D60-4830-8A72-BA050A09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21006-57BD-4B8D-AEC5-20029BEC1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1143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039A7B-C2F1-4D53-9CAF-1DFCCB91B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DB5B3-C7CE-4808-8D16-2319B6A39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CE54C-FF78-4926-9DE9-8A24619F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BBC7AC-2C19-4EB0-84AA-6EC41DCF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0EBA2C-894D-4BE5-A986-93D3FE816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C24C41-F3E9-4E6C-BEE9-BCEB5D71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9922FA-DE62-4B3F-AC80-FF761597C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C6225E-41AD-4FFB-8AF0-931DF14CB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2866E6-EF50-4B5C-A16D-5A239C8D0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D67F70-6EA2-4965-BE2E-D8328376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4E6006-F6AD-4678-80CC-CC274502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D2540CA-4FE4-4F67-B3FC-E3E1FC2A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0F7D68-C363-4599-986C-2E59DB95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6A2B14-1317-4D80-863B-D922E08C5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C4FCB9-67AF-413A-9F1B-60BA51E4E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AD1EE-7BD6-4389-8D40-31363C0C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D30DC9-B6AE-4DE3-87D2-9690584CF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5B81DE-7B9E-44A4-825F-D59B6A8A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5030E0-DA3C-4E04-8455-39537FD61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5474FE-6F67-452A-A457-3CA3573F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7089F7-663B-48DE-A013-7CCD57A0E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5F471C-DC54-4101-8A66-D8048346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0041187-8B7E-42F5-AC4E-E114B818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DB247D1-27A9-41FD-94AC-0A77A657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0B9E68D1-E4BC-4F8D-9465-F69D0552B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0D25903-EA88-4757-966A-530445E84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APPLE SILICON ROUTING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9EEA97-F88A-4123-A4E0-3B05D0FA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382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Apple Silicon routing protects render headroom while builds run hot.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CFDF8A-AC8D-4B10-A192-DFD16219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8382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The source targets an M5 Max-style unified-memory machine: render work stays responsive while background tasks stay isolated.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A02EB0-EE53-4CB0-A4A3-7A6BDDCA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10058400" cy="2724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0F12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B36FF0B-60D8-4F56-9D07-786BDC1AA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895600"/>
            <a:ext cx="2781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C13"/>
          </a:solidFill>
          <a:ln xmlns:a="http://schemas.openxmlformats.org/drawingml/2006/main" w="9525">
            <a:solidFill>
              <a:srgbClr val="DEFF9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97888A-5CFC-46DB-BD7C-280EF8A8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0861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rPr>
              <a:t>PERFORMANCE CORES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F08128-1546-47D3-82B2-FC07DECEB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814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Unity render loop</a:t>
            </a:r>
          </a:p>
          <a:p xmlns:a="http://schemas.openxmlformats.org/drawingml/2006/main">
            <a:pPr algn="l">
              <a:defRPr sz="13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3D altar</a:t>
            </a:r>
          </a:p>
          <a:p xmlns:a="http://schemas.openxmlformats.org/drawingml/2006/main">
            <a:pPr algn="l">
              <a:defRPr sz="13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visual trace queue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183EA3A-539A-41C1-9D23-2A542EE5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95600"/>
            <a:ext cx="2781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29"/>
          </a:solidFill>
          <a:ln xmlns:a="http://schemas.openxmlformats.org/drawingml/2006/main" w="9525">
            <a:solidFill>
              <a:srgbClr val="7DD3F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E0D392-0275-4C1B-9B3E-EC5A4D25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0861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DD3FC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7DD3FC"/>
                </a:solidFill>
                <a:latin typeface="Aptos Display"/>
                <a:ea typeface="Aptos Display"/>
                <a:cs typeface="Aptos Display"/>
              </a:rPr>
              <a:t>UNIFIED MEMORY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0B797D8-3E43-4F97-8C0A-51C0290E0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814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Asset/state exchange</a:t>
            </a:r>
          </a:p>
          <a:p xmlns:a="http://schemas.openxmlformats.org/drawingml/2006/main">
            <a:pPr algn="l">
              <a:defRPr sz="13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zero-copy target</a:t>
            </a:r>
          </a:p>
          <a:p xmlns:a="http://schemas.openxmlformats.org/drawingml/2006/main">
            <a:pPr algn="l">
              <a:defRPr sz="13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shared event buffers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FF997F0-3F35-4216-A741-72FF539F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95600"/>
            <a:ext cx="27813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170D"/>
          </a:solidFill>
          <a:ln xmlns:a="http://schemas.openxmlformats.org/drawingml/2006/main" w="9525">
            <a:solidFill>
              <a:srgbClr val="FDE68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34E7DBB-332A-4E96-B938-3FBA9BC1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86100"/>
            <a:ext cx="2266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DE68A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>
                <a:solidFill>
                  <a:srgbClr val="FDE68A"/>
                </a:solidFill>
                <a:latin typeface="Aptos Display"/>
                <a:ea typeface="Aptos Display"/>
                <a:cs typeface="Aptos Display"/>
              </a:rPr>
              <a:t>EFFICIENCY CORES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9DCFFD9-195C-463A-8E4A-4EB98B32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81400"/>
            <a:ext cx="2190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Bun sidecar</a:t>
            </a:r>
          </a:p>
          <a:p xmlns:a="http://schemas.openxmlformats.org/drawingml/2006/main">
            <a:pPr algn="l">
              <a:defRPr sz="13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forge compile</a:t>
            </a:r>
          </a:p>
          <a:p xmlns:a="http://schemas.openxmlformats.org/drawingml/2006/main">
            <a:pPr algn="l">
              <a:defRPr sz="13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Vercel API sync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2A908A7-2F19-4B86-A34C-86B14DF34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76650"/>
            <a:ext cx="457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EFF9A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3F1D2D-CC8A-493C-852D-9FD7F944B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676650"/>
            <a:ext cx="4572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DD3F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DD81CD-6666-493E-A74C-18100626D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486400"/>
            <a:ext cx="8077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79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Design principle: reserve interactive frame time first, then schedule compilation and deployment orchestration around it.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DB6A42-866B-4FA6-9EA7-F1CCF2E7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Source-provided target: M5 Max / Apple Silicon optimization.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847FC51-7038-4576-BA4B-238040A6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7497281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E8B823-DD8C-4CED-8416-183C4CCCE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6D976C-FB9E-49D7-A23D-BE5C9501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5664E-764E-4EA3-99E5-D5DC6D8A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1143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F8B50-5FF2-411D-AB9A-EBEA3290C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41A305-F970-4C8A-BFA1-33C89B8A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1B8399-238F-4DD0-87E8-EA7550445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F4FCF-4CE7-43C3-8289-3C1FDE29E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8D9776-CAEB-479B-8F28-E7F09AFC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20A61E-8828-4D92-AA72-5B2849E2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3378B7-171A-479D-92F6-A3B7969AE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68C6BE-F66E-411B-9EB6-0802E8D38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F88E8-173F-47D2-AB33-78C4CD35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9B781-8419-4305-BB1D-769794B0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25D340-FA8E-45EF-92DF-0D1AF92D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04D454-884D-49BF-B35B-BC66C1DD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3DD5E2-910B-4634-8EE3-9DE0539DF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48B3EA-085B-4981-895B-7D599026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3ADD52-EC1C-4846-956A-D6EE0D92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09EBE-15CD-480C-AD02-353ED754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79E4A0-101A-4998-A9C5-54861E44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52DA4A-6F6A-4134-B81D-22B8BA3A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40C1B1-F8E2-4030-87AB-09FB77E4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640E25-AACC-4A2A-A5F6-F5A28605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5C33AB-992F-4E4B-8EBF-F48BB451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D4A821-2836-41A1-AB8B-BBC0CF52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BDB9E41-4948-4945-A1A8-F465967F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1E513C-A3B3-4944-AD61-027659DF6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2F60363E-E842-4F29-BC91-64FFBEB7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63DD1D4-2F93-44AA-8848-20F7ED48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SPACETIMEDB SCHEMA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F5A92B-4B0B-4EAC-BCC5-D6B9F6D7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477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SpaceTimeDB gives every tool event a reducer-owned state transition.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A75F78-F734-481F-ACC3-19BBE0267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847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Deployments, environment sync, terminal output, and gas traces resolve into explicit collections that the altar can render.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D0E332-87A8-4687-8803-8C8091D26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99441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6275"/>
            </a:srgbClr>
          </a:solidFill>
          <a:ln xmlns:a="http://schemas.openxmlformats.org/drawingml/2006/main" w="9525">
            <a:solidFill>
              <a:srgbClr val="DEFF9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0ABA02C-9824-46F9-AA28-FE4CE2154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14600"/>
            <a:ext cx="2209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COLLECTION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B4A4D91-1AF8-4B42-8414-EA5FD038B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14600"/>
            <a:ext cx="2971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REDUCER TRIGGER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1FC438-9B15-4576-B505-AE611B06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43150"/>
            <a:ext cx="952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1D80FF6-9E65-4B83-AD54-CAEDEB9A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14600"/>
            <a:ext cx="3962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75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OUTPUT STATE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E735D81-5349-4DC2-9900-2AC1199C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9525" cy="2876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627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868A7D2-579E-4D17-99C4-0706EFCC3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994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9525">
            <a:solidFill>
              <a:srgbClr val="24272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E664873-1631-46AA-8D30-E1D59579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6F7"/>
                </a:solidFill>
                <a:latin typeface="Aptos"/>
                <a:ea typeface="Aptos"/>
                <a:cs typeface="Aptos"/>
              </a:rPr>
              <a:t>Deployments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89026DD-7306-4A9B-A890-DA37BE7B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289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on_forge_deploy()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661EF6-C4BC-489E-A152-811DCFBD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2895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Verified contract address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ECF584-A469-45BD-B3EB-8D9625C7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48050"/>
            <a:ext cx="994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"/>
            </a:srgbClr>
          </a:solidFill>
          <a:ln xmlns:a="http://schemas.openxmlformats.org/drawingml/2006/main" w="9525">
            <a:solidFill>
              <a:srgbClr val="24272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CE516AB-31DF-4CEB-9AD8-A1DA4F6C5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195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6F7"/>
                </a:solidFill>
                <a:latin typeface="Aptos"/>
                <a:ea typeface="Aptos"/>
                <a:cs typeface="Aptos"/>
              </a:rPr>
              <a:t>EnvState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BC4D0B-D09C-4982-A99E-1655F669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195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on_vercel_sync()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3AB74C-6719-4D7C-A29F-561607017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Active env-hash mapping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AAB01C1-5A96-481B-A721-37421316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38600"/>
            <a:ext cx="994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9525">
            <a:solidFill>
              <a:srgbClr val="24272D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C5B3EC9-DB14-4216-803E-3F336D7D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00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6F7"/>
                </a:solidFill>
                <a:latin typeface="Aptos"/>
                <a:ea typeface="Aptos"/>
                <a:cs typeface="Aptos"/>
              </a:rPr>
              <a:t>ActivityLog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4541510-BF7C-4A96-9087-C9CB6684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21005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on_terminal_io()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8F4E88C-1B3D-4C6D-A0D2-1022EB45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21005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3D trace visual event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3DFBFE4-4133-40D1-83FB-263BF2DDA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29150"/>
            <a:ext cx="9944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84"/>
            </a:srgbClr>
          </a:solidFill>
          <a:ln xmlns:a="http://schemas.openxmlformats.org/drawingml/2006/main" w="9525">
            <a:solidFill>
              <a:srgbClr val="24272D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3C86AC-6E88-440D-BF4F-1979709A1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0060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4F6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6F7"/>
                </a:solidFill>
                <a:latin typeface="Aptos"/>
                <a:ea typeface="Aptos"/>
                <a:cs typeface="Aptos"/>
              </a:rPr>
              <a:t>GasMetrics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B56998C-F8A4-42F1-BD18-7F46C4AC4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800600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1275" b="0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on_block_trace()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CB18E7-2D7D-4BD8-A634-205D457E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00600"/>
            <a:ext cx="39433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PBR heatmap density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1CC6B0F-227D-4B7B-AE7A-970FD3A32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E86"/>
                </a:solidFill>
                <a:latin typeface="Aptos Mono"/>
                <a:ea typeface="Aptos Mono"/>
                <a:cs typeface="Aptos Mono"/>
              </a:defRPr>
            </a:pPr>
            <a:r>
              <a:rPr sz="1200" b="0">
                <a:solidFill>
                  <a:srgbClr val="777E86"/>
                </a:solidFill>
                <a:latin typeface="Aptos Mono"/>
                <a:ea typeface="Aptos Mono"/>
                <a:cs typeface="Aptos Mono"/>
              </a:rPr>
              <a:t>Reducer triggers are the contract between machine events and visual state.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743A27-B23B-49BF-82B6-1AF9887C3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Source: pasted HTML schema table.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6D4749-840C-4683-B7FA-0833F5FB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76499470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E8531D-0511-4CED-904B-F9D527F3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9535B1-0B67-4510-978C-EE658AE6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87A570-7C3D-4AA7-9057-85663D4BA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1143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57A023-4DB1-439C-8AF1-A24073E3B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25015-015F-498C-9376-D9DF7932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686B75-FCED-4CE2-8A3A-50780D72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089CF5-3C9D-4C58-B443-09BAEC47F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8455C6-3615-4343-BD1F-574B2830F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8B574-4A2B-49AD-8727-01C644567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E90F7-57AE-46E1-AD00-58ACCF03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358CD8-4D72-4C4D-ADA2-892A5426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2A9EA-7315-4EBD-893A-0C0341E1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31CC27B-E607-43A0-82A7-63600A8AB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92E2C4-E5D9-4931-8162-1C655788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BEBFA-1C35-454F-AF1E-65B25D9D1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489BE6-59F3-4830-BDFE-373428EA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63247B-5D2D-4066-8172-A2B89F9E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1BCC4B-DCA2-455F-B75B-5E9B402BE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EDA292-0AFA-4875-8826-8F97C808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D39B8-0C29-43CE-BFF9-1A1867E0A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6C9DD-3909-43D9-955F-21428A946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6F3B44-1214-4E22-9B43-DE61AF7D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B2111A5-8167-4ECB-A510-B7F83F48A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AC3E68D-C3BD-4F23-B31F-43700BBF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42829CA-3D81-4DC5-8843-4FE9915D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A0633A-D92F-42DC-AC32-17D2760DE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1B2B29-C53C-40E5-9796-D9ECC6B31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FCD69F8A-4D85-44F7-A0D4-52362055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0D105034-B8A0-4928-BE87-64EFE0C0C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PERFORMANCE BENCHMARKS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03B2ED6-E2D9-4709-B0AE-4546031F4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Latency advantage is strongest where developers usually wait.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CC72442-39C9-4F3E-BA41-FD17253F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809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The source claims Bun orchestration and forge triggers remain sub-second while Node sync lags behind.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6F7ACB-0540-44C8-AC30-0E78C5F0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622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4F6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6F7"/>
                </a:solidFill>
                <a:latin typeface="Aptos"/>
                <a:ea typeface="Aptos"/>
                <a:cs typeface="Aptos"/>
              </a:rPr>
              <a:t>Bun orchestration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C6335BE-1A99-4BEB-8EEA-A36575C77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289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17538D7-3E63-4663-8A64-93AD7038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28900"/>
            <a:ext cx="6153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9E1906-0261-4E5C-B759-E27803AB3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527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7070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70709"/>
                </a:solidFill>
                <a:latin typeface="Aptos Mono"/>
                <a:ea typeface="Aptos Mono"/>
                <a:cs typeface="Aptos Mono"/>
              </a:rPr>
              <a:t>0.2s latency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1C53C8-668A-4802-B60F-D7BCD1E08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004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4F6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6F7"/>
                </a:solidFill>
                <a:latin typeface="Aptos"/>
                <a:ea typeface="Aptos"/>
                <a:cs typeface="Aptos"/>
              </a:rPr>
              <a:t>Node.js sync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1B1BE2-F0E6-46C0-AEC7-F0A34B7CD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671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9E26FF-A104-4AA3-AACD-BEBB99AA5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467100"/>
            <a:ext cx="2590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991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7CD43E6-F58E-44FE-AC7E-B3709879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5909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F6F7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F4F6F7"/>
                </a:solidFill>
                <a:latin typeface="Aptos Mono"/>
                <a:ea typeface="Aptos Mono"/>
                <a:cs typeface="Aptos Mono"/>
              </a:rPr>
              <a:t>1.4s latency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6FE5B4C-6C03-4DA3-99CB-09907A1A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386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4F6F7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6F7"/>
                </a:solidFill>
                <a:latin typeface="Aptos"/>
                <a:ea typeface="Aptos"/>
                <a:cs typeface="Aptos"/>
              </a:rPr>
              <a:t>Forge build trigger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9284FD-318E-4E0C-AEEB-7874E17C6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05300"/>
            <a:ext cx="6477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353"/>
            </a:srgbClr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7F8AC2C-C810-4C84-8EFE-D1189B82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305300"/>
            <a:ext cx="56959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4ED091E-D64C-438F-AE57-E9E8FCD0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29125"/>
            <a:ext cx="14097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070709"/>
                </a:solidFill>
                <a:latin typeface="Aptos Mono"/>
                <a:ea typeface="Aptos Mono"/>
                <a:cs typeface="Aptos Mono"/>
              </a:defRPr>
            </a:pPr>
            <a:r>
              <a:rPr sz="1200" b="1">
                <a:solidFill>
                  <a:srgbClr val="070709"/>
                </a:solidFill>
                <a:latin typeface="Aptos Mono"/>
                <a:ea typeface="Aptos Mono"/>
                <a:cs typeface="Aptos Mono"/>
              </a:rPr>
              <a:t>0.5s latency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95E6960-F0C1-4BD4-BC3F-33361C22A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57450"/>
            <a:ext cx="95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41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E0C707-A418-4B72-8F17-E58DC04F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276850"/>
            <a:ext cx="647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77E86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777E86"/>
                </a:solidFill>
                <a:latin typeface="Aptos Mono"/>
                <a:ea typeface="Aptos Mono"/>
                <a:cs typeface="Aptos Mono"/>
              </a:rPr>
              <a:t>claimed relative responsiveness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599CEE4-5DC3-4E94-9925-A9B26900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24150"/>
            <a:ext cx="1200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33BEFA-562E-42C6-AEC2-428339176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7655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rPr>
              <a:t>100K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E28EFF1-1AB7-41D3-9A35-67A566E80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29565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E8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777E86"/>
                </a:solidFill>
                <a:latin typeface="Aptos Mono"/>
                <a:ea typeface="Aptos Mono"/>
                <a:cs typeface="Aptos Mono"/>
              </a:rPr>
              <a:t>transactions logged in source claim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449CFA-99D4-434D-8C3E-8212B962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4076700"/>
            <a:ext cx="12001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33AA9E-6F6B-4E0E-BA5D-4DD19F06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29100"/>
            <a:ext cx="857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1796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7DD3FC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7DD3FC"/>
                </a:solidFill>
                <a:latin typeface="Aptos Display"/>
                <a:ea typeface="Aptos Display"/>
                <a:cs typeface="Aptos Display"/>
              </a:rPr>
              <a:t>sub-sec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F4FE85A-F57F-4676-808F-2D4D1ABE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48200"/>
            <a:ext cx="819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744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77E86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777E86"/>
                </a:solidFill>
                <a:latin typeface="Aptos Mono"/>
                <a:ea typeface="Aptos Mono"/>
                <a:cs typeface="Aptos Mono"/>
              </a:rPr>
              <a:t>target build/deploy feedback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C7912A-1C36-494F-BC20-0FD1EAEF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Source-provided benchmark claims; needs reproduced test harness.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FAA590E-B74B-4AEE-96F8-832A048D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6512633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11D5C7-70BF-4B81-A037-7BC92B0DC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F06FD8-1C03-4045-90D5-2296827DC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0722A-B0A5-4DC1-8B62-3D0D8C5B1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1143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6109A6-062F-49AD-BAF7-B082DA38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DC532-03EE-4785-94C7-A71C215EF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4CE06-2D2B-4B03-A0A6-FB6BD91B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4E514-F447-4788-A7D6-D8A11E52F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06EFB-C20C-4B72-B2BB-5BE985B6B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07BC8A-F2B9-4305-BD6A-894BA29D6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C32611-7E0D-4FB3-BCA8-412D0517F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F8408-389C-465C-943E-D16EC140F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4BA29-1A7C-4005-B49A-7AA1F444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F95BE6-46F8-4359-9078-BA370901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A60C4-7875-473F-AC80-7AA348CE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449594-C481-40F5-BF7D-D2056D66D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24BAAF-AA29-4106-85DC-C628858CA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2458EB-E074-41EB-BB09-8BEBFC8E5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E2B5DF-1721-4DD3-A280-F955E71FB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83FABE-E245-4BF6-A957-3E33D489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6207A4-C22A-4AE1-9538-D7110847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3B5001-FD80-46C4-8DBA-58AE9A7E4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85F91F-F99D-4AAB-802B-F5E953C6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75C688-3720-4463-B89A-646F04050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A5DB01-0F6B-4321-BB94-94B701DC9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738050-8F7B-4078-985F-A252AB83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832230D-A308-4179-A355-2DD611C2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EEDB3F-FEE9-4248-B883-74A6887B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9E956633-8080-4275-BA18-CB768085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9F10902C-6F86-4F6F-AA99-B17D0B7F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3-DAY EXECUTION ROADMAP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7B19E7-12F3-4F9B-8E2B-EF5A249DD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477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Three days is feasible because workstreams are isolated.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1584EA-7E1D-421E-BDAA-E0D0B529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8477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The plan separates schema, sidecar orchestration, cinematic polish, and demo preparation into non-overlapping lanes.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126050-4817-467D-9952-FF2603B3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19500"/>
            <a:ext cx="942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31373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700D3F1-A944-4298-ABF4-CD4F8AA3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467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19050">
            <a:solidFill>
              <a:srgbClr val="070709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F0AF90-2211-4D67-8C60-443587EBF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90800"/>
            <a:ext cx="1962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427D03D-1BFA-40E3-BA38-D0991228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8765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rPr>
              <a:t>DAY 1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439BC5E-1CAE-4157-AA52-EA8A604E7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004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Scaffold Unity altar</a:t>
            </a:r>
          </a:p>
          <a:p xmlns:a="http://schemas.openxmlformats.org/drawingml/2006/main">
            <a:pPr algn="ctr">
              <a:defRPr sz="9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and SpaceTimeDB schema.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D73165-37CD-464C-8941-A3E456FE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7338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7B55455-0B79-4F17-B17D-D9739075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67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19050">
            <a:solidFill>
              <a:srgbClr val="070709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E8ADB16-4A88-4113-B44B-A045F385F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019550"/>
            <a:ext cx="1962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F2F84B-EACD-446B-AF0C-23BD2294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053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DD3F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7DD3FC"/>
                </a:solidFill>
                <a:latin typeface="Aptos Display"/>
                <a:ea typeface="Aptos Display"/>
                <a:cs typeface="Aptos Display"/>
              </a:rPr>
              <a:t>DAY 2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B86325-BC66-45D1-B150-18FA832B6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291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Bun sidecar orchestration</a:t>
            </a:r>
          </a:p>
          <a:p xmlns:a="http://schemas.openxmlformats.org/drawingml/2006/main">
            <a:pPr algn="ctr">
              <a:defRPr sz="9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for Foundry and Vercel.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9E4C58-8499-432E-B624-DE954ADC7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7719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E1D179-D164-45BC-977F-E7B8EE13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67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19050">
            <a:solidFill>
              <a:srgbClr val="070709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ADE15F-5FA6-4235-A084-E1725F50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590800"/>
            <a:ext cx="1962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DF2178-9EBB-4C0F-9BAD-70864A987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7655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rPr>
              <a:t>DAY 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505EB1-ECE7-4D3D-BABE-C847B4FE5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004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Cinematic FX polish</a:t>
            </a:r>
          </a:p>
          <a:p xmlns:a="http://schemas.openxmlformats.org/drawingml/2006/main">
            <a:pPr algn="ctr">
              <a:defRPr sz="9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and deployment rehearsal.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64AF252-4D15-410A-ADAA-A13C7263D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33800"/>
            <a:ext cx="95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8C25AFB-2F0F-4A11-B706-730640AF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671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/>
          </a:solidFill>
          <a:ln xmlns:a="http://schemas.openxmlformats.org/drawingml/2006/main" w="19050">
            <a:solidFill>
              <a:srgbClr val="070709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667B440-5E85-474D-B367-0FB8E40DB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019550"/>
            <a:ext cx="19621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1407CA0-1FD3-426F-93C5-DFCF08DD6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05300"/>
            <a:ext cx="1581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7DD3FC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7DD3FC"/>
                </a:solidFill>
                <a:latin typeface="Aptos Display"/>
                <a:ea typeface="Aptos Display"/>
                <a:cs typeface="Aptos Display"/>
              </a:rPr>
              <a:t>PITCH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2248B8B-3CB8-4532-A8D0-34FF2FCEB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62915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Live demo of command</a:t>
            </a:r>
          </a:p>
          <a:p xmlns:a="http://schemas.openxmlformats.org/drawingml/2006/main">
            <a:pPr algn="ctr">
              <a:defRPr sz="9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center analytics.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4E59131-3328-45A8-AC0F-E4FDE373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377190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54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33E501F-0F3D-4C94-A52A-C3A6DD4E3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562600"/>
            <a:ext cx="6896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Execution logic: state first, orchestration second, cinematic confidence last.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DF8041-D1E2-41D3-9D2D-35C87E04F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Source: pasted HTML three-day roadmap.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40F3AD2-F834-40E5-9F07-75F51EF2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9897730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04E2C1-E64B-4FA2-B4AA-D74247CB3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B1A45A-1D27-4EEC-B297-82352600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4DF22D-0359-40EC-815D-6EFD5F9B3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1143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0AD412-1DE1-46F8-A894-2B27C57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30BA65-A7B2-42EB-A35E-9B5F76442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16088E-167F-4F27-B5A6-09DF98CD4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26ACDB-F056-4769-97AC-504B5B69A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7CF079-E4E7-44E5-9828-9F7BE4376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E2F8D9-0032-4B30-9CE0-329C07E4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91BCA9-1D3C-47A9-A2B0-B3339B5B3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834DD-29AA-433A-A48D-0DEFC245B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59DF58-344F-4B9A-B70B-341868464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DD1F48-A407-4F97-A9B7-5481400B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A6DBCC-F5F3-4466-9317-5938EDE2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FA7344-957E-463C-A4EC-F8784DC14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08FB37-DC38-49C4-8834-AB1FD020E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307BD-E4B5-4C3D-8AA3-8CE447AB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FA761F-6EB5-42DC-8A1A-DB9A8947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2314F2-491B-4DD4-83C9-9CA9DC5FC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A3E66F-2AAD-46E9-97B9-1AC879FA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C5612E4-A354-4CB6-A90B-3D0D32698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DFDCE8-C491-4DC4-8699-936941EC2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B36FA3-6E97-4C77-842F-26DC024D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5C71C5-0A55-41E4-B084-048F357BC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8EBB5-6D1E-44ED-B85F-698E29E1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A227C6-7E22-487D-B8CA-0AF783F2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542A6A-F1EF-4E38-B424-E2A357C6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1B3436E-EBDD-47B7-98B8-36A2701B3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"/>
            <a:ext cx="26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61918E6B-3B47-45F2-A1D9-26EDE4C0D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"/>
            <a:ext cx="3714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0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VELOCITY MULTIPLIER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F5FC9A-FD73-4411-A74E-00C9CC987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00100"/>
            <a:ext cx="8286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The 10x claim comes from removing context-switch boundaries.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7B0203-490E-47BE-A317-08FC0848F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8286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20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The command center compresses terminals, hosting dashboards, chain traces, and shared state into one operator surface.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9BE9DD-CB75-478F-89C6-AAE306F65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47950"/>
            <a:ext cx="24765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302"/>
          </a:bodyPr>
          <a:lstStyle xmlns:a="http://schemas.openxmlformats.org/drawingml/2006/main"/>
          <a:p xmlns:a="http://schemas.openxmlformats.org/drawingml/2006/main">
            <a:pPr algn="l">
              <a:defRPr sz="9450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defRPr>
            </a:pPr>
            <a:r>
              <a:rPr sz="9450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rPr>
              <a:t>10x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6E2399-CF83-4EAD-B3B7-BF5F57E4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43350"/>
            <a:ext cx="2190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77E86"/>
                </a:solidFill>
                <a:latin typeface="Aptos Mono"/>
                <a:ea typeface="Aptos Mono"/>
                <a:cs typeface="Aptos Mono"/>
              </a:defRPr>
            </a:pPr>
            <a:r>
              <a:rPr sz="1125" b="1">
                <a:solidFill>
                  <a:srgbClr val="777E86"/>
                </a:solidFill>
                <a:latin typeface="Aptos Mono"/>
                <a:ea typeface="Aptos Mono"/>
                <a:cs typeface="Aptos Mono"/>
              </a:rPr>
              <a:t>velocity multiplier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91265D-DF25-446A-8D1C-47684F5C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476500"/>
            <a:ext cx="2762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317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BC3087-2068-4B1D-8988-ACCDE471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7241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777E86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777E86"/>
                </a:solidFill>
                <a:latin typeface="Aptos Mono"/>
                <a:ea typeface="Aptos Mono"/>
                <a:cs typeface="Aptos Mono"/>
              </a:rPr>
              <a:t>BEFORE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650524-1E34-4562-80F1-9C91B53B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432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9525">
            <a:solidFill>
              <a:srgbClr val="24272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82B924-6117-4F5B-91B0-97C0D133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200400"/>
            <a:ext cx="1638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8CDD2"/>
                </a:solidFill>
                <a:latin typeface="Aptos Mono"/>
                <a:ea typeface="Aptos Mono"/>
                <a:cs typeface="Aptos Mono"/>
              </a:rPr>
              <a:t>Terminal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ED5928-E3A8-4C39-A054-A75BEEABF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5052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9525">
            <a:solidFill>
              <a:srgbClr val="24272D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EC62AB8-09C3-4879-86BB-A73096CA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62350"/>
            <a:ext cx="1638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8CDD2"/>
                </a:solidFill>
                <a:latin typeface="Aptos Mono"/>
                <a:ea typeface="Aptos Mono"/>
                <a:cs typeface="Aptos Mono"/>
              </a:rPr>
              <a:t>Hosting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17046E-AB1A-418C-9A95-10744C15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6715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9525">
            <a:solidFill>
              <a:srgbClr val="24272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E135B2-8870-46BB-9270-62C19E8F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24300"/>
            <a:ext cx="1638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8CDD2"/>
                </a:solidFill>
                <a:latin typeface="Aptos Mono"/>
                <a:ea typeface="Aptos Mono"/>
                <a:cs typeface="Aptos Mono"/>
              </a:rPr>
              <a:t>Chain explorer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B294BBC-99BD-4C5B-8F88-E1840AFC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229100"/>
            <a:ext cx="1943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9525">
            <a:solidFill>
              <a:srgbClr val="24272D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1713B19-B35E-4559-98D2-5F1B92E58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4286250"/>
            <a:ext cx="1638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C8CDD2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C8CDD2"/>
                </a:solidFill>
                <a:latin typeface="Aptos Mono"/>
                <a:ea typeface="Aptos Mono"/>
                <a:cs typeface="Aptos Mono"/>
              </a:rPr>
              <a:t>Team state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0486DC5-3203-4EAD-93D5-3E8FC9FE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476500"/>
            <a:ext cx="27622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016"/>
          </a:solidFill>
          <a:ln xmlns:a="http://schemas.openxmlformats.org/drawingml/2006/main" w="9525">
            <a:solidFill>
              <a:srgbClr val="DEFF9A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634416-453C-48AE-BEE1-F3B074CC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24150"/>
            <a:ext cx="114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1350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AFTER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48C5DDD-F507-4551-B762-F82D8C5B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276600"/>
            <a:ext cx="2076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593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ALCHEMICAL</a:t>
            </a:r>
          </a:p>
          <a:p xmlns:a="http://schemas.openxmlformats.org/drawingml/2006/main">
            <a:pPr algn="ctr">
              <a:defRPr sz="22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COMMAND</a:t>
            </a:r>
          </a:p>
          <a:p xmlns:a="http://schemas.openxmlformats.org/drawingml/2006/main">
            <a:pPr algn="ctr">
              <a:defRPr sz="22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CENTER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CE150E-2473-413A-90C8-4ABF7E13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676650"/>
            <a:ext cx="9525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28575">
            <a:solidFill>
              <a:srgbClr val="DEFF9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7FD6616-0E58-4B15-B000-A5629B83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09950"/>
            <a:ext cx="800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900" b="0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collapse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7D8E19A-40E6-48CF-91FD-6B237AF2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72100"/>
            <a:ext cx="609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Zero context switching. Zero terminal fatigue.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A44D3CE-13E1-4E52-95D2-17A3BE05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Source: pasted HTML velocity multiplier slide.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C766A12-21AA-49B9-9E3B-F797A6686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6779640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23C57A-7581-4306-B12F-C74CA19FB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5E1706-B024-487E-88DB-31122826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05FFED-214E-4784-8DC0-A046F0D59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1143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E95B5-F1BE-4D0F-B11F-36B86D1F5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DEA1A4-713E-49E7-BD53-C300EA1DF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1DC958-931B-40A7-9DE6-C90802B0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45CE4A-DEA5-4766-80D6-EAE0D83C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46625-517F-419F-A32F-D03F91EA9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40B176-0D5D-44DB-A295-1A434258B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4505FB-255C-43B6-9761-1FF97349F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C2E31-79F9-4D2F-98EF-8674AD285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3E782-8DE8-42BC-9B31-7F83B944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BF9F42-A567-4B7D-8CAF-434444AB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A957B8-38DC-413B-8CB8-3B517984C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10C54-97CB-47CD-BD8B-E5A520BC6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BF0CBE-C4F2-43D1-8433-BCBEE6DB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48062E-8E6E-45B2-8EF0-A572B77A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629F17-8D4E-47C3-8BEB-5BBE2FEA7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01A632-A9E7-499A-B668-F83099E4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56CA37-9EF1-4F59-9DBA-6192ED99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8FF9491-060D-4E67-BBE9-2A820B95F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A91DB0-2B51-45D1-B19E-42EF62807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13B226-0794-40D1-8FAA-1A82F245A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F1F9A5-06BF-4DA2-9208-5834AD6E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769476-D2BA-47B6-858C-4FE6F1DF5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C193A43-6DAD-42C5-980A-0863634B9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5E92BC-F02E-4444-A9AF-4156C75BB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CBF7F8D-4832-4AD8-B2FB-6DE7F7383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1466850"/>
            <a:ext cx="95250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BEBC16A-E54D-430B-A896-717C317DD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1790700"/>
            <a:ext cx="8096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322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3225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We don't build apps; we architect digital altars where the transformation from idea to on-chain reality is instantaneous.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A269F5F-D0C3-4C3E-85F9-E378B612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62450"/>
            <a:ext cx="42291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1350" b="0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- ALCHMHACKSTATION MANIFESTO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BF55D8-343B-4DF0-B09C-021E6F0C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750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Source: pasted HTML manifesto quote.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46443E-6B0C-49BB-94D5-AF55049B8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20822059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7DBA14-7FB3-427A-96B8-9737541E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70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06BEC3-60EE-41A0-8DEA-A1368C07E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FF9A">
              <a:alpha val="509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9BBAC7-906E-45D5-A391-8307B702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5219700"/>
            <a:ext cx="11430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DD3FC">
              <a:alpha val="3922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81A5E5-F71C-4DE9-9F3A-3B6C1B42D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2AA65B-4594-4B9D-BC5B-FB8A1F68C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4DD59-084C-4EBB-9485-66E1BE06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214A06-3BB2-4330-8AAC-7BD5084A3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E7FC49-8793-4C6A-9E88-0B907AD94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053355-E56E-4F2C-956A-EE699663B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13B779-0FAC-4F83-B40A-DAA099D50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C2672B-C16D-4586-8BFA-03A33C6D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23C698-0B2E-463C-A9D0-61A859C5F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26DE8-1C57-4FFD-BCFB-2436876A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5F6C19-4F50-4B21-B324-0411D8ED8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A1E7D3-F39B-4555-943A-D029CB8B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69B107-89F9-4CA5-BC37-500CF52EE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EE564-6E4E-4263-A167-509C0AEE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0E4987-AF2F-4A4E-AB94-DA7D3792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961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D8A6FC-AD5F-4E5B-8D26-AE2FD3893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1EC470-F997-4976-95A7-7B0278E75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FA41A5-0F25-4BC9-9FA4-1F825E86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44B8BF-7F87-4D39-83E5-FAA32EEF5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0099DD-C1E4-4F65-9359-879FB34D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04A003E-903B-4884-AA4F-D743DB28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163478-2A9B-4D03-96B0-296B0DEB6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06754BE-F605-414E-A07C-AC0A06195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569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CBD04C-B435-4426-B537-6412B2AEA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912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FF9A">
              <a:alpha val="14118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136EE3-0CED-440B-9D68-3D14DE15B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19200"/>
            <a:ext cx="12192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ctr">
              <a:defRPr sz="6900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defRPr>
            </a:pPr>
            <a:r>
              <a:rPr sz="6900" b="1">
                <a:solidFill>
                  <a:srgbClr val="DEFF9A"/>
                </a:solidFill>
                <a:latin typeface="Aptos Display"/>
                <a:ea typeface="Aptos Display"/>
                <a:cs typeface="Aptos Display"/>
              </a:rPr>
              <a:t>INITIATE?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AF055F-9EEA-440C-853A-0DC15F46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400300"/>
            <a:ext cx="1219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C8CDD2"/>
                </a:solidFill>
                <a:latin typeface="Aptos Mono"/>
                <a:ea typeface="Aptos Mono"/>
                <a:cs typeface="Aptos Mono"/>
              </a:defRPr>
            </a:pPr>
            <a:r>
              <a:rPr sz="1650" b="0">
                <a:solidFill>
                  <a:srgbClr val="C8CDD2"/>
                </a:solidFill>
                <a:latin typeface="Aptos Mono"/>
                <a:ea typeface="Aptos Mono"/>
                <a:cs typeface="Aptos Mono"/>
              </a:rPr>
              <a:t>AWAITING OPERATOR INPUT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25BDD9-67CD-44DD-A68C-B0A2B554B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429000"/>
            <a:ext cx="2152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B1F6FF-B7AE-4A2F-9FF8-C190D1C91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6385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01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64DF8B6-6627-4D8B-9DB5-F403B96B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61950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OBSERVE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180AD7-582E-4C9B-905D-A4B74C6CC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0576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State enters SpaceTimeDB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F862A6-14FA-4264-B922-C36D4C0AC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990975"/>
            <a:ext cx="514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EFF9A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E1A95CA-D316-45F3-B172-B82D0436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429000"/>
            <a:ext cx="2152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4"/>
          </a:solidFill>
          <a:ln xmlns:a="http://schemas.openxmlformats.org/drawingml/2006/main" w="19050">
            <a:solidFill>
              <a:srgbClr val="DEFF9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8AD69B-EBE9-4C94-888E-A4D8C6BE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385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DEFF9A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DEFF9A"/>
                </a:solidFill>
                <a:latin typeface="Aptos Mono"/>
                <a:ea typeface="Aptos Mono"/>
                <a:cs typeface="Aptos Mono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B50BC3-2EB0-4982-AE55-F3FC6E5E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1950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BUILD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644D131-1F63-4235-BD8B-44D169C25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576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Bun triggers Foundry loop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DBC1F1-012F-4906-8F57-6D6D37AB3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990975"/>
            <a:ext cx="5143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DEFF9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21C98CA-72E9-4769-8A98-A31E752B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429000"/>
            <a:ext cx="21526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4"/>
          </a:solidFill>
          <a:ln xmlns:a="http://schemas.openxmlformats.org/drawingml/2006/main" w="9525">
            <a:solidFill>
              <a:srgbClr val="30343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B7A7297-9174-430F-B920-C85299F74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38550"/>
            <a:ext cx="400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7DD3FC"/>
                </a:solidFill>
                <a:latin typeface="Aptos Mono"/>
                <a:ea typeface="Aptos Mono"/>
                <a:cs typeface="Aptos Mono"/>
              </a:defRPr>
            </a:pPr>
            <a:r>
              <a:rPr sz="1275" b="1">
                <a:solidFill>
                  <a:srgbClr val="7DD3FC"/>
                </a:solidFill>
                <a:latin typeface="Aptos Mono"/>
                <a:ea typeface="Aptos Mono"/>
                <a:cs typeface="Aptos Mono"/>
              </a:rPr>
              <a:t>03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9C2D95-1D2A-4BCF-AFDE-E1CB01FD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19500"/>
            <a:ext cx="1123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278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4F6F7"/>
                </a:solidFill>
                <a:latin typeface="Aptos Display"/>
                <a:ea typeface="Aptos Display"/>
                <a:cs typeface="Aptos Display"/>
              </a:rPr>
              <a:t>DEPLOY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B3C54A4-5842-4B1F-BCC4-F1ADF907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57650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C8CDD2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8CDD2"/>
                </a:solidFill>
                <a:latin typeface="Aptos"/>
                <a:ea typeface="Aptos"/>
                <a:cs typeface="Aptos"/>
              </a:rPr>
              <a:t>Verified address returns to altar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57FA73-7D82-4129-9221-068A643E9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562600"/>
            <a:ext cx="12192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975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ETHGLOBAL NY // JUNE 2026 // ALCHMHACKSTATION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DEB658-69D6-4438-A582-314BA941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055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defRPr>
            </a:pPr>
            <a:r>
              <a:rPr sz="825" b="0">
                <a:solidFill>
                  <a:srgbClr val="525861"/>
                </a:solidFill>
                <a:latin typeface="Aptos Mono"/>
                <a:ea typeface="Aptos Mono"/>
                <a:cs typeface="Aptos Mono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6723922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2026-06-08T03:27:44.6580000Z</dcterms:created>
  <dcterms:modified xsi:type="dcterms:W3CDTF">2026-06-08T03:27:44.6580000Z</dcterms:modified>
</coreProperties>
</file>